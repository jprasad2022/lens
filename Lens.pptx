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.prasad@alumni.emory.edu" userId="80d78ab3f0d2cd07" providerId="LiveId" clId="{BD17B444-0C67-452A-9054-135469C42950}"/>
    <pc:docChg chg="custSel modSld">
      <pc:chgData name="jay.prasad@alumni.emory.edu" userId="80d78ab3f0d2cd07" providerId="LiveId" clId="{BD17B444-0C67-452A-9054-135469C42950}" dt="2025-08-30T02:23:07.831" v="981"/>
      <pc:docMkLst>
        <pc:docMk/>
      </pc:docMkLst>
      <pc:sldChg chg="addSp delSp modSp mod">
        <pc:chgData name="jay.prasad@alumni.emory.edu" userId="80d78ab3f0d2cd07" providerId="LiveId" clId="{BD17B444-0C67-452A-9054-135469C42950}" dt="2025-08-30T02:23:07.831" v="981"/>
        <pc:sldMkLst>
          <pc:docMk/>
          <pc:sldMk cId="3944639251" sldId="256"/>
        </pc:sldMkLst>
      </pc:sldChg>
    </pc:docChg>
  </pc:docChgLst>
  <pc:docChgLst>
    <pc:chgData name="jay.prasad@alumni.emory.edu" userId="80d78ab3f0d2cd07" providerId="LiveId" clId="{6C4D159F-F9D7-4F8B-B437-356FADE9D9E4}"/>
    <pc:docChg chg="custSel modSld">
      <pc:chgData name="jay.prasad@alumni.emory.edu" userId="80d78ab3f0d2cd07" providerId="LiveId" clId="{6C4D159F-F9D7-4F8B-B437-356FADE9D9E4}" dt="2025-10-16T22:02:47.257" v="680" actId="20577"/>
      <pc:docMkLst>
        <pc:docMk/>
      </pc:docMkLst>
      <pc:sldChg chg="modSp mod">
        <pc:chgData name="jay.prasad@alumni.emory.edu" userId="80d78ab3f0d2cd07" providerId="LiveId" clId="{6C4D159F-F9D7-4F8B-B437-356FADE9D9E4}" dt="2025-10-16T22:02:47.257" v="680" actId="20577"/>
        <pc:sldMkLst>
          <pc:docMk/>
          <pc:sldMk cId="3944639251" sldId="256"/>
        </pc:sldMkLst>
        <pc:graphicFrameChg chg="mod modGraphic">
          <ac:chgData name="jay.prasad@alumni.emory.edu" userId="80d78ab3f0d2cd07" providerId="LiveId" clId="{6C4D159F-F9D7-4F8B-B437-356FADE9D9E4}" dt="2025-10-16T22:02:47.257" v="680" actId="20577"/>
          <ac:graphicFrameMkLst>
            <pc:docMk/>
            <pc:sldMk cId="3944639251" sldId="256"/>
            <ac:graphicFrameMk id="7" creationId="{49EC2811-9A7B-DA96-A393-4A231350254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47B2-3A88-42EC-A74C-44D2C184343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832E6-22E5-40CC-BDED-8461DE65F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9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6ACC-6D9E-0546-8680-D6B9074F8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BAABF-C327-9004-A593-9C66F07A0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5AA6-EC2E-38BF-D906-3DAC4B1F8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934E-2C3E-42C2-B11A-238C5BCFBD71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9AE66-2EB9-0495-9D52-0A41C6AF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9343C-3620-5C0F-BC08-0F38A952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3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0989-0B17-933C-9280-0791054F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57DFB-759F-5CF3-2E5F-71301969A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1594-DBE1-92C8-1FF4-CFDD1961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C3A4-8B10-4534-B7B8-AA7A80EFA90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CF1B2-C54D-4F84-F1B5-D0C869B2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59785-5F2B-F846-BE04-FE034D01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7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463A-DA7C-D8ED-F25E-ABDBDD9A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DAAC8-BE73-772C-6041-42D9DF37E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130B6-BEEC-DF44-7DC0-AC820D65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71B60-B73E-4D5F-B7E0-0903173866A9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F009-4DBF-C6FB-8FA7-0C4580F0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EE04A-9F1F-15A3-369B-26633116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4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93A0-6C40-D037-7F97-82B8D47F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C12CE-7445-F454-E6E3-494A73F92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8EEF3-9F08-1D2A-E343-15C243F63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7BA5D-CA38-9BA0-C06B-E0913D42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63F-45DE-4A2B-AF1A-4DB29B005BB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98078-74E5-8D25-16CA-250FA28D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3C9B1-5F9F-0539-8BDC-3DADCA54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3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C60B-FC29-5011-EB6E-125B90BD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12B97-8AB3-5702-2211-0D097B3BB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A3E2D-AD2B-5F36-6095-C9E154411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495CC-7173-7484-005A-0A0AFC83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710F5-B2D6-343B-9999-F49C31AB8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2ADD2-A453-0F98-86C5-B0721AFD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B83-E07E-4AC5-8AAF-653236736A91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550B9-E63F-6C6F-CE59-D30F8385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5FA8A-1E97-36B4-518F-B64E0FB4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5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3285-08B2-2858-7CD0-740B9756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9C3CF-BF2A-B84F-222A-195211DC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5C2E-B833-4A96-B4D0-FCDA10AA34C4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E73E9-A54D-6648-7DF5-62DE807E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FAC4C-C3EF-3826-95C2-D9C27272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8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6C54E-DE35-E749-4F7C-4E2D693B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2E58-B176-4818-B3FF-034F3510ECF7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92628-4468-B097-1FCE-DDDBB991C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15318-7B04-BCA2-3517-2FAF9612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1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313F-8EBD-12BC-F746-8FF9F923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CA2E6-779F-B499-BF81-33A57062F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6260F-FB5E-BB4A-A0FF-7DBFE9D6C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CD927-1A10-5D2B-D39D-FC6CF7BB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D209F-290A-46C1-87FE-2693CAE294D7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B6844-59B1-EED1-A7D3-11F460932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F2217-302F-A845-BB76-0BDD15DB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83ED-55BD-61F2-54AD-09064C67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C1831-AFBA-2DFD-DB10-2F891D670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43582-1DE9-3E56-2926-283524087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461AD-3A1A-274D-2DB1-D9AE355D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E17E0-F8FC-469D-B0FA-FFF3E812D0E8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6A5B9-B807-E990-E443-9BFE6E55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6BB7B-0697-50CE-08A3-7DF8E4B9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3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7594-7AD5-1C4E-CFA2-7E935B6F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AEE3A-8D9D-FC4C-A34E-5C75C7DD5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C66D0-C724-9095-D9E2-E1A99FD6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43FA-D5D0-4637-A0E1-14EEDAEEDE69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4CBF1-65E4-C762-00CA-D3324B43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FCA67-24E1-1A96-2826-D43B16D7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0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6ACA1-BB43-755E-AB03-5424E5983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BA5FE-4F30-51EF-FDA0-A724B84BD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46A82-AE1A-F268-AD26-6F3F86BA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2B99F-5682-4C91-93C3-9350616C270B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CC495-5A37-12D2-066B-55FB6A4A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F761-C2A4-C059-49F0-25CAFFBE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8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7125F-44EE-0E1A-2468-E0AA4625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41285-D478-61E8-77DA-B2AE854C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5C455-82C0-26AD-E45D-C1CA89933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29744-8E46-417E-B61B-34AF3745A41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3B338-9B9B-F8BA-AEF4-B6CD3180C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E8F2-B945-CD32-932A-53118BCC1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4351F-3311-4B10-BCB1-06C82B277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6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9C88-D881-B854-C633-0C9875D3E4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LENS Recommendation System: Fairness &amp; Security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26ECB-07E3-4750-1535-2DA95F778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presentation outlines the fairness and security posture of the MovieLens (LENS) recommendation system, identifying critical demographic imbalances, popularity biases, and security vulnerabilities.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1750E-3DC8-173F-1044-6C6F1971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A2723-8E10-FDED-5B6C-E97A263D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2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744BC8-6A60-C5E5-06D5-6B6380D8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D1013E-295E-6E59-398D-35D0FCAB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EE0E57-BF4D-E5D1-D423-D62E6DF0590B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F81B30-1E08-921D-15B0-D28762C2DF31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Executive Summary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6EED0-1ACA-8AB1-81B7-6EFBB95DA1F7}"/>
              </a:ext>
            </a:extLst>
          </p:cNvPr>
          <p:cNvSpPr txBox="1"/>
          <p:nvPr/>
        </p:nvSpPr>
        <p:spPr>
          <a:xfrm>
            <a:off x="521109" y="1455174"/>
            <a:ext cx="113955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Report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fairness and security aspects of the current LENS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potential harms and feedback loops.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Propose concrete algorithmic improvements and measurable targets.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Findings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 Inequality:</a:t>
            </a:r>
            <a:r>
              <a:rPr lang="en-US" dirty="0"/>
              <a:t> The system exhibits moderately high popularity bias (Gini: 0.634).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Demographic Imbalance:</a:t>
            </a:r>
            <a:r>
              <a:rPr lang="en-US" dirty="0"/>
              <a:t> There is a significant gender skew (71.7% male), creating risks of representation harm.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Vulnerability:</a:t>
            </a:r>
            <a:r>
              <a:rPr lang="en-US" dirty="0"/>
              <a:t> Nearly half the catalog (45.9%) has low engagement, making it susceptible to manipulation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9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A65B-7539-582F-D12F-79DB2004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03032F-8344-A22E-83AD-8B50E24D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AAE5AA-3CEC-AC06-8D5B-5B7CBB56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9447BE-0A94-AF91-B483-CF46DC0DF9AF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0FC315-2D1A-D725-5956-6C2848899EE7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Current State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2F607-758A-3473-B72A-C046387B9176}"/>
              </a:ext>
            </a:extLst>
          </p:cNvPr>
          <p:cNvSpPr txBox="1"/>
          <p:nvPr/>
        </p:nvSpPr>
        <p:spPr>
          <a:xfrm>
            <a:off x="521109" y="1455174"/>
            <a:ext cx="113955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Popularity Bias (The "Rich-Get-Richer" Effect)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Gini Coefficient:</a:t>
            </a:r>
            <a:r>
              <a:rPr lang="en-US" dirty="0"/>
              <a:t> 0.634, indicating moderately high inequality.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Top 10% Dominance:</a:t>
            </a:r>
            <a:r>
              <a:rPr lang="en-US" dirty="0"/>
              <a:t> The top 10% of movies account for 44.4% of all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Long Tail:</a:t>
            </a:r>
            <a:r>
              <a:rPr lang="en-US" dirty="0"/>
              <a:t> The bottom 50% of movies receive only 7.6% of all ratings.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Demographics (The User Base)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Total Users:</a:t>
            </a:r>
            <a:r>
              <a:rPr lang="en-US" dirty="0"/>
              <a:t> 6,040.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Gender Split:</a:t>
            </a:r>
            <a:r>
              <a:rPr lang="en-US" dirty="0"/>
              <a:t> 71.7% Male vs. 28.3% Female (Ratio: 2.53:1).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 Skew:</a:t>
            </a:r>
            <a:r>
              <a:rPr lang="en-US" dirty="0"/>
              <a:t> The largest group is 25–34 years old (34.7%).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94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1203-7C4F-F203-325D-40E7F094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C3809E-9FEC-8A03-68EE-7428C4030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5A76D-0D0D-17C5-D9F3-BD30B06D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9ABE56-47F2-E23B-AB8C-BF79D00902F0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23FA93-90FD-73F3-8A07-25C1BA856EA5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Identified Fairness Harms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E2789-99A5-4AE5-2BAE-E54B486B5FEF}"/>
              </a:ext>
            </a:extLst>
          </p:cNvPr>
          <p:cNvSpPr txBox="1"/>
          <p:nvPr/>
        </p:nvSpPr>
        <p:spPr>
          <a:xfrm>
            <a:off x="521109" y="1455174"/>
            <a:ext cx="113955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Allocation Harms</a:t>
            </a:r>
            <a:endParaRPr lang="en-US" dirty="0"/>
          </a:p>
          <a:p>
            <a:pPr lvl="1"/>
            <a:r>
              <a:rPr lang="en-US" dirty="0"/>
              <a:t>Unequal distribution of recommendations across groups (e.g., gender bias in action movies).</a:t>
            </a:r>
          </a:p>
          <a:p>
            <a:endParaRPr lang="en-US" b="1" dirty="0"/>
          </a:p>
          <a:p>
            <a:r>
              <a:rPr lang="en-US" b="1" dirty="0"/>
              <a:t>2. Quality of Service Harms</a:t>
            </a:r>
            <a:endParaRPr lang="en-US" dirty="0"/>
          </a:p>
          <a:p>
            <a:pPr lvl="1"/>
            <a:r>
              <a:rPr lang="en-US" dirty="0"/>
              <a:t>Lower accuracy for minority demographic groups or diverse age groups.</a:t>
            </a:r>
          </a:p>
          <a:p>
            <a:pPr lvl="1"/>
            <a:endParaRPr lang="en-US" b="1" dirty="0"/>
          </a:p>
          <a:p>
            <a:r>
              <a:rPr lang="en-US" b="1" dirty="0"/>
              <a:t>3. Representation Harms</a:t>
            </a:r>
            <a:endParaRPr lang="en-US" dirty="0"/>
          </a:p>
          <a:p>
            <a:pPr lvl="1"/>
            <a:r>
              <a:rPr lang="en-US" dirty="0"/>
              <a:t>Stereotyping preferences based on gender or age (e.g., reinforcing gender stereotypes in genre preferences).</a:t>
            </a:r>
          </a:p>
          <a:p>
            <a:endParaRPr lang="en-US" b="1" dirty="0"/>
          </a:p>
          <a:p>
            <a:r>
              <a:rPr lang="en-US" b="1" dirty="0"/>
              <a:t>4. Feedback Loop Harms</a:t>
            </a:r>
            <a:endParaRPr lang="en-US" dirty="0"/>
          </a:p>
          <a:p>
            <a:pPr lvl="1"/>
            <a:r>
              <a:rPr lang="en-US" dirty="0"/>
              <a:t>Self-reinforcing biases where popular items become more popular, crowding out minority preferences.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16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92E0F-1E90-DE30-75F6-BA289841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BD6174-15B8-5DEA-55B3-7CB54F1E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11DF22-3EBE-2367-B1DC-60CA632D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19DB24-CEBB-9758-46EB-FA882C2526F1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725AAF-D89F-337A-9593-53178E597E6D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Fairness Requirements &amp; KPI Targets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357A6-9534-9722-126C-43694043F927}"/>
              </a:ext>
            </a:extLst>
          </p:cNvPr>
          <p:cNvSpPr txBox="1"/>
          <p:nvPr/>
        </p:nvSpPr>
        <p:spPr>
          <a:xfrm>
            <a:off x="521109" y="1455174"/>
            <a:ext cx="113955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System-Level Requirement: Coverage Fairness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Metric:</a:t>
            </a:r>
            <a:r>
              <a:rPr lang="en-US" dirty="0"/>
              <a:t> Gini coefficient of item exposure.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Current State:</a:t>
            </a:r>
            <a:r>
              <a:rPr lang="en-US" dirty="0"/>
              <a:t> 0.634.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Target:</a:t>
            </a:r>
            <a:r>
              <a:rPr lang="en-US" dirty="0"/>
              <a:t> Reduce by 10% to </a:t>
            </a:r>
            <a:r>
              <a:rPr lang="en-US" b="1" dirty="0"/>
              <a:t>0.571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Secondary Goal:</a:t>
            </a:r>
            <a:r>
              <a:rPr lang="en-US" dirty="0"/>
              <a:t> Increase bottom 50% catalog coverage from 7.6% to </a:t>
            </a:r>
            <a:r>
              <a:rPr lang="en-US" b="1" dirty="0"/>
              <a:t>15%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Model-Level Requirement: Demographic Parity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Metric:</a:t>
            </a:r>
            <a:r>
              <a:rPr lang="en-US" dirty="0"/>
              <a:t> RMSE (Root Mean Square Error) variance across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Target:</a:t>
            </a:r>
            <a:r>
              <a:rPr lang="en-US" dirty="0"/>
              <a:t> RMSE difference &lt; 0.1 between any two demographic groups.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08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329BF-B783-DB90-D4E9-3F5AAEDB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5E36B5-547A-6F84-A8BF-7C5D71A3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A2B012-8302-9C45-9BDC-CEF43882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1817D3-3257-7566-ACA4-6864E626E634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AA875E-00F9-A01E-6CF6-077D5151412C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Proposed Algorithmic Improvements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7F488-8F0F-D350-676C-A2CF51B023C9}"/>
              </a:ext>
            </a:extLst>
          </p:cNvPr>
          <p:cNvSpPr txBox="1"/>
          <p:nvPr/>
        </p:nvSpPr>
        <p:spPr>
          <a:xfrm>
            <a:off x="521109" y="1455174"/>
            <a:ext cx="11395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Exposure Fair Ranking</a:t>
            </a:r>
            <a:endParaRPr lang="en-US" dirty="0"/>
          </a:p>
          <a:p>
            <a:r>
              <a:rPr lang="en-US" dirty="0"/>
              <a:t>	Re-ranks items to boost long-tail content using an "inverse popularity" logic (Targeting Alpha=0.3).</a:t>
            </a:r>
          </a:p>
          <a:p>
            <a:endParaRPr lang="en-US" b="1" dirty="0"/>
          </a:p>
          <a:p>
            <a:r>
              <a:rPr lang="en-US" b="1" dirty="0"/>
              <a:t>2. Diversity Re-ranking (MMR)</a:t>
            </a:r>
            <a:endParaRPr lang="en-US" dirty="0"/>
          </a:p>
          <a:p>
            <a:r>
              <a:rPr lang="en-US" dirty="0"/>
              <a:t>	Uses Maximal Marginal Relevance algorithms to balance relevance with result diversity.</a:t>
            </a:r>
          </a:p>
          <a:p>
            <a:endParaRPr lang="en-US" b="1" dirty="0"/>
          </a:p>
          <a:p>
            <a:r>
              <a:rPr lang="en-US" b="1" dirty="0"/>
              <a:t>3. Demographic Debiasing</a:t>
            </a:r>
            <a:endParaRPr lang="en-US" dirty="0"/>
          </a:p>
          <a:p>
            <a:r>
              <a:rPr lang="en-US" dirty="0"/>
              <a:t>	Implements "Demographic-aware recommendations" to boost counter-stereotypical content and 	underrepresented genres.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5FF7F-4F5C-402C-214F-0EEE9607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4FB182-2AEE-7E01-5D7D-1B8FCBF5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A7A492-06D5-89C5-591F-85F4682E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7EF6C7-9208-ED59-83C9-5E2955370923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F6E222-DB65-AFFD-A2A7-F14BCA880A47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Feedback Loops &amp; Systemic Risks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E01D71-A658-4451-1866-D4D7F8A4F36C}"/>
              </a:ext>
            </a:extLst>
          </p:cNvPr>
          <p:cNvSpPr txBox="1"/>
          <p:nvPr/>
        </p:nvSpPr>
        <p:spPr>
          <a:xfrm>
            <a:off x="521109" y="1455174"/>
            <a:ext cx="113955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Popularity Echo Chamber</a:t>
            </a:r>
            <a:endParaRPr lang="en-US" dirty="0"/>
          </a:p>
          <a:p>
            <a:r>
              <a:rPr lang="en-US" b="1" dirty="0"/>
              <a:t>Risk:</a:t>
            </a:r>
            <a:r>
              <a:rPr lang="en-US" dirty="0"/>
              <a:t> Without intervention, the top 10% of movies will continue to accrue the majority of interaction.</a:t>
            </a:r>
          </a:p>
          <a:p>
            <a:r>
              <a:rPr lang="en-US" b="1" dirty="0"/>
              <a:t>Detection:</a:t>
            </a:r>
            <a:r>
              <a:rPr lang="en-US" dirty="0"/>
              <a:t> Monitor weekly Gini coefficient changes; alert if Gini increases &gt;5% in a month.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Demographic Amplification</a:t>
            </a:r>
            <a:endParaRPr lang="en-US" dirty="0"/>
          </a:p>
          <a:p>
            <a:r>
              <a:rPr lang="en-US" b="1" dirty="0"/>
              <a:t>Risk:</a:t>
            </a:r>
            <a:r>
              <a:rPr lang="en-US" dirty="0"/>
              <a:t> The 71.7% male user base creates a risk of male preference dominance in collaborative filtering.</a:t>
            </a:r>
          </a:p>
          <a:p>
            <a:r>
              <a:rPr lang="en-US" b="1" dirty="0"/>
              <a:t>Result:</a:t>
            </a:r>
            <a:r>
              <a:rPr lang="en-US" dirty="0"/>
              <a:t> A "Filter Bubble" where female preferences are underrepresented.</a:t>
            </a:r>
          </a:p>
          <a:p>
            <a:endParaRPr lang="en-US" dirty="0"/>
          </a:p>
          <a:p>
            <a:r>
              <a:rPr lang="en-US" b="1" dirty="0"/>
              <a:t>Cold Start Spiral</a:t>
            </a:r>
          </a:p>
          <a:p>
            <a:r>
              <a:rPr lang="en-US" b="1" dirty="0"/>
              <a:t>Risk</a:t>
            </a:r>
            <a:r>
              <a:rPr lang="en-US" dirty="0"/>
              <a:t>: New users receive generic recommendations, leading to churn.</a:t>
            </a:r>
          </a:p>
          <a:p>
            <a:r>
              <a:rPr lang="en-US" b="1" dirty="0"/>
              <a:t>Context</a:t>
            </a:r>
            <a:r>
              <a:rPr lang="en-US" dirty="0"/>
              <a:t>: 45.9% of movies have $\le$ 100 ratings, making personalization difficult.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2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8853B-D438-5DFB-160F-6DDED115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564722-5F90-A914-6A3B-E0CA487C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F8356-BD7A-5460-F134-C134EB22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F8564-E808-C121-4FD1-95AB489B44B4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F55B59-D302-B352-17AD-D0BD2D9436F2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Security Threat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75E74A-F6FB-40AC-0FE3-1C9BF978ED0C}"/>
              </a:ext>
            </a:extLst>
          </p:cNvPr>
          <p:cNvSpPr txBox="1"/>
          <p:nvPr/>
        </p:nvSpPr>
        <p:spPr>
          <a:xfrm>
            <a:off x="471948" y="1069806"/>
            <a:ext cx="113955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Threats</a:t>
            </a:r>
            <a:endParaRPr lang="en-US" dirty="0"/>
          </a:p>
          <a:p>
            <a:r>
              <a:rPr lang="en-US" b="1" dirty="0"/>
              <a:t>Event Injection:</a:t>
            </a:r>
            <a:r>
              <a:rPr lang="en-US" dirty="0"/>
              <a:t> Kafka layer attacks causing model poisoning.</a:t>
            </a:r>
          </a:p>
          <a:p>
            <a:r>
              <a:rPr lang="en-US" b="1" dirty="0"/>
              <a:t>Recommendation Bombing:</a:t>
            </a:r>
            <a:r>
              <a:rPr lang="en-US" dirty="0"/>
              <a:t> API layer attacks to skew results or exhaust resources.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Specific Vulnerabilities</a:t>
            </a:r>
          </a:p>
          <a:p>
            <a:r>
              <a:rPr lang="en-US" b="1" dirty="0"/>
              <a:t>Rating Spam</a:t>
            </a:r>
            <a:r>
              <a:rPr lang="en-US" dirty="0"/>
              <a:t>: With 45.9% of movies having $\le$ 100 ratings, small movies are highly vulnerable to coordinated manipulation.</a:t>
            </a:r>
          </a:p>
          <a:p>
            <a:r>
              <a:rPr lang="en-US" b="1" dirty="0"/>
              <a:t>Shilling Attacks</a:t>
            </a:r>
            <a:r>
              <a:rPr lang="en-US" dirty="0"/>
              <a:t>: Fake user profiles designed to influence recommendations.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Mitigation Strategy</a:t>
            </a:r>
          </a:p>
          <a:p>
            <a:r>
              <a:rPr lang="en-US" b="1" dirty="0"/>
              <a:t>Anomaly Detection</a:t>
            </a:r>
            <a:r>
              <a:rPr lang="en-US" dirty="0"/>
              <a:t>: Flag rating spikes exceeding 3 standard deviations from a movie's historical average.</a:t>
            </a:r>
          </a:p>
          <a:p>
            <a:r>
              <a:rPr lang="en-US" b="1" dirty="0"/>
              <a:t>Rate Limiting</a:t>
            </a:r>
            <a:r>
              <a:rPr lang="en-US" dirty="0"/>
              <a:t>: Implement 60 requests/minute per user.</a:t>
            </a:r>
          </a:p>
        </p:txBody>
      </p:sp>
    </p:spTree>
    <p:extLst>
      <p:ext uri="{BB962C8B-B14F-4D97-AF65-F5344CB8AC3E}">
        <p14:creationId xmlns:p14="http://schemas.microsoft.com/office/powerpoint/2010/main" val="208872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C54D-6EBA-AE7F-FEAE-305031DE6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3452DD-C6B8-B0DD-AF53-E08DE3BF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CFD554-BDE4-DF80-1DFB-06558DD0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DA0C07-F752-F816-293A-3CF0B2C2EE3F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FA44C8-9D10-140A-E393-93FA6466F6FB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Conclusion &amp; Recommendations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9AEAE-B062-1F62-43F7-1F71765A42EC}"/>
              </a:ext>
            </a:extLst>
          </p:cNvPr>
          <p:cNvSpPr txBox="1"/>
          <p:nvPr/>
        </p:nvSpPr>
        <p:spPr>
          <a:xfrm>
            <a:off x="471948" y="1069806"/>
            <a:ext cx="113955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Summary </a:t>
            </a:r>
            <a:r>
              <a:rPr lang="en-US" b="1"/>
              <a:t>Status</a:t>
            </a:r>
            <a:r>
              <a:rPr lang="en-US"/>
              <a:t> </a:t>
            </a:r>
          </a:p>
          <a:p>
            <a:r>
              <a:rPr lang="en-US"/>
              <a:t>The </a:t>
            </a:r>
            <a:r>
              <a:rPr lang="en-US" dirty="0"/>
              <a:t>LENS system is currently functional but exhibits significant bias (Gini 0.634) and demographic risk (Male dominance).</a:t>
            </a:r>
          </a:p>
          <a:p>
            <a:endParaRPr lang="en-US" dirty="0"/>
          </a:p>
          <a:p>
            <a:r>
              <a:rPr lang="en-US" b="1" dirty="0"/>
              <a:t>Critical Recommendations</a:t>
            </a:r>
            <a:endParaRPr lang="en-US" dirty="0"/>
          </a:p>
          <a:p>
            <a:r>
              <a:rPr lang="en-US" b="1" dirty="0"/>
              <a:t>Address Coverage:</a:t>
            </a:r>
            <a:r>
              <a:rPr lang="en-US" dirty="0"/>
              <a:t> Immediately implement exposure fair ranking to lift the 7.6% market share of the bottom-half movies.</a:t>
            </a:r>
          </a:p>
          <a:p>
            <a:r>
              <a:rPr lang="en-US" b="1" dirty="0"/>
              <a:t>Mitigate Bias:</a:t>
            </a:r>
            <a:r>
              <a:rPr lang="en-US" dirty="0"/>
              <a:t> Counteract the 71.7% male user dominance to prevent gender-biased filter bubbles.</a:t>
            </a:r>
          </a:p>
          <a:p>
            <a:r>
              <a:rPr lang="en-US" b="1" dirty="0"/>
              <a:t>Harden Security:</a:t>
            </a:r>
            <a:r>
              <a:rPr lang="en-US" dirty="0"/>
              <a:t> Deploy anomaly detection to protect the 45.9% of movies vulnerable to rating manipulation.</a:t>
            </a:r>
          </a:p>
        </p:txBody>
      </p:sp>
    </p:spTree>
    <p:extLst>
      <p:ext uri="{BB962C8B-B14F-4D97-AF65-F5344CB8AC3E}">
        <p14:creationId xmlns:p14="http://schemas.microsoft.com/office/powerpoint/2010/main" val="388282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51FB-8EAC-FA21-EB9E-3F5EC84F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95DB34-A3B4-47FF-6B6A-22D08AC8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COT6930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A10EEE-4509-FEAC-678C-BDFF3DEE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4351F-3311-4B10-BCB1-06C82B277977}" type="slidenum">
              <a:rPr lang="en-US" smtClean="0"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DEECB4-D67A-64CC-5DF6-9E5BF5E983B2}"/>
              </a:ext>
            </a:extLst>
          </p:cNvPr>
          <p:cNvCxnSpPr/>
          <p:nvPr/>
        </p:nvCxnSpPr>
        <p:spPr>
          <a:xfrm>
            <a:off x="0" y="89473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B691D7-A877-3D35-ED84-FB5F5343FDC3}"/>
              </a:ext>
            </a:extLst>
          </p:cNvPr>
          <p:cNvSpPr txBox="1"/>
          <p:nvPr/>
        </p:nvSpPr>
        <p:spPr>
          <a:xfrm>
            <a:off x="0" y="19644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Reflections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34109-1E99-CAB2-8522-A8FE97409AFB}"/>
              </a:ext>
            </a:extLst>
          </p:cNvPr>
          <p:cNvSpPr txBox="1"/>
          <p:nvPr/>
        </p:nvSpPr>
        <p:spPr>
          <a:xfrm>
            <a:off x="471948" y="1069806"/>
            <a:ext cx="113955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LENS project aimed to engineer a secure, fairness-aware recommendation pipeline. While I successfully analyzed popularity bias (Gini 0.634) and demographic skew (71.7% male), the project's core challenge was architectural: simulating a hostile, real-time environment using the static MovieLens dataset. This mismatch between static data and streaming infrastructure created significant friction.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The Hardest Parts: Kafka &amp; Streaming Challenges</a:t>
            </a:r>
            <a:r>
              <a:rPr lang="en-US" dirty="0"/>
              <a:t> The most difficult aspect was not the machine learning, but the plumbing required to secure and transport the data. 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If I restarted, I would use Mocking Frameworks earlier. Spinning up the full Zookeeper/Broker stack for unit tests was inefficient; mocking Kafka would have allowed faster iteration on the fairness logic.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59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4613</TotalTime>
  <Words>891</Words>
  <Application>Microsoft Office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LENS Recommendation System: Fairness &amp; Security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jay.prasad@alumni.emory.edu</dc:creator>
  <cp:lastModifiedBy>jay.prasad@alumni.emory.edu</cp:lastModifiedBy>
  <cp:revision>22</cp:revision>
  <dcterms:created xsi:type="dcterms:W3CDTF">2025-07-15T23:43:53Z</dcterms:created>
  <dcterms:modified xsi:type="dcterms:W3CDTF">2025-11-29T01:08:38Z</dcterms:modified>
</cp:coreProperties>
</file>