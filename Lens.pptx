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.prasad@alumni.emory.edu" userId="80d78ab3f0d2cd07" providerId="LiveId" clId="{BD17B444-0C67-452A-9054-135469C42950}"/>
    <pc:docChg chg="custSel modSld">
      <pc:chgData name="jay.prasad@alumni.emory.edu" userId="80d78ab3f0d2cd07" providerId="LiveId" clId="{BD17B444-0C67-452A-9054-135469C42950}" dt="2025-08-30T02:23:07.831" v="981"/>
      <pc:docMkLst>
        <pc:docMk/>
      </pc:docMkLst>
      <pc:sldChg chg="addSp delSp modSp mod">
        <pc:chgData name="jay.prasad@alumni.emory.edu" userId="80d78ab3f0d2cd07" providerId="LiveId" clId="{BD17B444-0C67-452A-9054-135469C42950}" dt="2025-08-30T02:23:07.831" v="981"/>
        <pc:sldMkLst>
          <pc:docMk/>
          <pc:sldMk cId="3944639251" sldId="256"/>
        </pc:sldMkLst>
      </pc:sldChg>
    </pc:docChg>
  </pc:docChgLst>
  <pc:docChgLst>
    <pc:chgData name="jay.prasad@alumni.emory.edu" userId="80d78ab3f0d2cd07" providerId="LiveId" clId="{6C4D159F-F9D7-4F8B-B437-356FADE9D9E4}"/>
    <pc:docChg chg="custSel modSld">
      <pc:chgData name="jay.prasad@alumni.emory.edu" userId="80d78ab3f0d2cd07" providerId="LiveId" clId="{6C4D159F-F9D7-4F8B-B437-356FADE9D9E4}" dt="2025-10-16T22:02:47.257" v="680" actId="20577"/>
      <pc:docMkLst>
        <pc:docMk/>
      </pc:docMkLst>
      <pc:sldChg chg="modSp mod">
        <pc:chgData name="jay.prasad@alumni.emory.edu" userId="80d78ab3f0d2cd07" providerId="LiveId" clId="{6C4D159F-F9D7-4F8B-B437-356FADE9D9E4}" dt="2025-10-16T22:02:47.257" v="680" actId="20577"/>
        <pc:sldMkLst>
          <pc:docMk/>
          <pc:sldMk cId="3944639251" sldId="256"/>
        </pc:sldMkLst>
        <pc:graphicFrameChg chg="mod modGraphic">
          <ac:chgData name="jay.prasad@alumni.emory.edu" userId="80d78ab3f0d2cd07" providerId="LiveId" clId="{6C4D159F-F9D7-4F8B-B437-356FADE9D9E4}" dt="2025-10-16T22:02:47.257" v="680" actId="20577"/>
          <ac:graphicFrameMkLst>
            <pc:docMk/>
            <pc:sldMk cId="3944639251" sldId="256"/>
            <ac:graphicFrameMk id="7" creationId="{49EC2811-9A7B-DA96-A393-4A2313502543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2D47B2-3A88-42EC-A74C-44D2C184343C}" type="datetimeFigureOut">
              <a:rPr lang="en-US" smtClean="0"/>
              <a:t>11/28/2025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B832E6-22E5-40CC-BDED-8461DE65F8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090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C6ACC-6D9E-0546-8680-D6B9074F8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3BAABF-C327-9004-A593-9C66F07A04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F85AA6-EC2E-38BF-D906-3DAC4B1F8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8934E-2C3E-42C2-B11A-238C5BCFBD71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79AE66-2EB9-0495-9D52-0A41C6AF9C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9343C-3620-5C0F-BC08-0F38A9524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430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A0989-0B17-933C-9280-0791054F1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57DFB-759F-5CF3-2E5F-71301969A9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41594-DBE1-92C8-1FF4-CFDD1961C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1C3A4-8B10-4534-B7B8-AA7A80EFA90F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7CF1B2-C54D-4F84-F1B5-D0C869B28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959785-5F2B-F846-BE04-FE034D017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15707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0463A-DA7C-D8ED-F25E-ABDBDD9AC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5DAAC8-BE73-772C-6041-42D9DF37E0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B130B6-BEEC-DF44-7DC0-AC820D656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171B60-B73E-4D5F-B7E0-0903173866A9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1BF009-4DBF-C6FB-8FA7-0C4580F0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EE04A-9F1F-15A3-369B-266331166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7545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E93A0-6C40-D037-7F97-82B8D47FF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C12CE-7445-F454-E6E3-494A73F926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08EEF3-9F08-1D2A-E343-15C243F635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07BA5D-CA38-9BA0-C06B-E0913D42F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B963F-45DE-4A2B-AF1A-4DB29B005BB6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B98078-74E5-8D25-16CA-250FA28DE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73C9B1-5F9F-0539-8BDC-3DADCA545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5312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3C60B-FC29-5011-EB6E-125B90BD8D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012B97-8AB3-5702-2211-0D097B3BB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A3E2D-AD2B-5F36-6095-C9E154411B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4C495CC-7173-7484-005A-0A0AFC836A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5710F5-B2D6-343B-9999-F49C31AB8B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72ADD2-A453-0F98-86C5-B0721AFD5A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9A2B83-E07E-4AC5-8AAF-653236736A91}" type="datetime1">
              <a:rPr lang="en-US" smtClean="0"/>
              <a:t>11/28/2025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A7550B9-E63F-6C6F-CE59-D30F83852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D5FA8A-1E97-36B4-518F-B64E0FB49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9518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83285-08B2-2858-7CD0-740B9756F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D9C3CF-BF2A-B84F-222A-195211DC5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155C2E-B833-4A96-B4D0-FCDA10AA34C4}" type="datetime1">
              <a:rPr lang="en-US" smtClean="0"/>
              <a:t>11/28/2025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EE73E9-A54D-6648-7DF5-62DE807ED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AFAC4C-C3EF-3826-95C2-D9C27272C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1859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36C54E-DE35-E749-4F7C-4E2D693BC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72E58-B176-4818-B3FF-034F3510ECF7}" type="datetime1">
              <a:rPr lang="en-US" smtClean="0"/>
              <a:t>11/28/2025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592628-4468-B097-1FCE-DDDBB991C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15318-7B04-BCA2-3517-2FAF96121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914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F313F-8EBD-12BC-F746-8FF9F9230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5CA2E6-779F-B499-BF81-33A57062F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36260F-FB5E-BB4A-A0FF-7DBFE9D6C7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8CD927-1A10-5D2B-D39D-FC6CF7BB59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9D209F-290A-46C1-87FE-2693CAE294D7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8B6844-59B1-EED1-A7D3-11F460932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4F2217-302F-A845-BB76-0BDD15DB3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99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D83ED-55BD-61F2-54AD-09064C671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5C1831-AFBA-2DFD-DB10-2F891D6707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E43582-1DE9-3E56-2926-283524087B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9461AD-3A1A-274D-2DB1-D9AE355D5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DE17E0-F8FC-469D-B0FA-FFF3E812D0E8}" type="datetime1">
              <a:rPr lang="en-US" smtClean="0"/>
              <a:t>11/28/2025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E6A5B9-B807-E990-E443-9BFE6E55B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C6BB7B-0697-50CE-08A3-7DF8E4B92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033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27594-7AD5-1C4E-CFA2-7E935B6F2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BAEE3A-8D9D-FC4C-A34E-5C75C7DD5F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3C66D0-C724-9095-D9E2-E1A99FD6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AC43FA-D5D0-4637-A0E1-14EEDAEEDE69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C4CBF1-65E4-C762-00CA-D3324B43A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FCA67-24E1-1A96-2826-D43B16D79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702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A6ACA1-BB43-755E-AB03-5424E59835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6BA5FE-4F30-51EF-FDA0-A724B84BDE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46A82-AE1A-F268-AD26-6F3F86BA2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22B99F-5682-4C91-93C3-9350616C270B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ECC495-5A37-12D2-066B-55FB6A4AC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6F761-C2A4-C059-49F0-25CAFFBE8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682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457125F-44EE-0E1A-2468-E0AA46253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141285-D478-61E8-77DA-B2AE854CBF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5C455-82C0-26AD-E45D-C1CA89933D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B29744-8E46-417E-B61B-34AF3745A41F}" type="datetime1">
              <a:rPr lang="en-US" smtClean="0"/>
              <a:t>11/28/2025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83B338-9B9B-F8BA-AEF4-B6CD3180CC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19E8F2-B945-CD32-932A-53118BCC1F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4351F-3311-4B10-BCB1-06C82B2779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8642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F9C88-D881-B854-C633-0C9875D3E4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LENS Recommendation System: Fairness &amp; Security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526ECB-07E3-4750-1535-2DA95F7786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This presentation outlines the fairness and security posture of the MovieLens (LENS) recommendation system, identifying critical demographic imbalances, popularity biases, and security vulnerabilities.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01750E-3DC8-173F-1044-6C6F19714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COT6930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0A2723-8E10-FDED-5B6C-E97A263DE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24290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A744BC8-6A60-C5E5-06D5-6B6380D89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COT6930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D1013E-295E-6E59-398D-35D0FCAB2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2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0EE0E57-BF4D-E5D1-D423-D62E6DF0590B}"/>
              </a:ext>
            </a:extLst>
          </p:cNvPr>
          <p:cNvCxnSpPr/>
          <p:nvPr/>
        </p:nvCxnSpPr>
        <p:spPr>
          <a:xfrm>
            <a:off x="0" y="894736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3F81B30-1E08-921D-15B0-D28762C2DF31}"/>
              </a:ext>
            </a:extLst>
          </p:cNvPr>
          <p:cNvSpPr txBox="1"/>
          <p:nvPr/>
        </p:nvSpPr>
        <p:spPr>
          <a:xfrm>
            <a:off x="0" y="196447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/>
              <a:t>Executive Summary</a:t>
            </a:r>
            <a:endParaRPr lang="en-US" sz="2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16EED0-1ACA-8AB1-81B7-6EFBB95DA1F7}"/>
              </a:ext>
            </a:extLst>
          </p:cNvPr>
          <p:cNvSpPr txBox="1"/>
          <p:nvPr/>
        </p:nvSpPr>
        <p:spPr>
          <a:xfrm>
            <a:off x="521109" y="1455174"/>
            <a:ext cx="1139558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Report Objectives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Analyze fairness and security aspects of the current LENS implementation.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Identify potential harms and feedback loops.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Propose concrete algorithmic improvements and measurable targets.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Key Findings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High Inequality:</a:t>
            </a:r>
            <a:r>
              <a:rPr lang="en-US" dirty="0"/>
              <a:t> The system exhibits moderately high popularity bias (Gini: 0.634).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Demographic Imbalance:</a:t>
            </a:r>
            <a:r>
              <a:rPr lang="en-US" dirty="0"/>
              <a:t> There is a significant gender skew (71.7% male), creating risks of representation harm.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Vulnerability:</a:t>
            </a:r>
            <a:r>
              <a:rPr lang="en-US" dirty="0"/>
              <a:t> Nearly half the catalog (45.9%) has low engagement, making it susceptible to manipulation attacks.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94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5A65B-7539-582F-D12F-79DB20042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803032F-8344-A22E-83AD-8B50E24D1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COT6930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AAE5AA-3CEC-AC06-8D5B-5B7CBB56A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3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A9447BE-0A94-AF91-B483-CF46DC0DF9AF}"/>
              </a:ext>
            </a:extLst>
          </p:cNvPr>
          <p:cNvCxnSpPr/>
          <p:nvPr/>
        </p:nvCxnSpPr>
        <p:spPr>
          <a:xfrm>
            <a:off x="0" y="894736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40FC315-2D1A-D725-5956-6C2848899EE7}"/>
              </a:ext>
            </a:extLst>
          </p:cNvPr>
          <p:cNvSpPr txBox="1"/>
          <p:nvPr/>
        </p:nvSpPr>
        <p:spPr>
          <a:xfrm>
            <a:off x="0" y="196447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Current State Analysis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C2F607-758A-3473-B72A-C046387B9176}"/>
              </a:ext>
            </a:extLst>
          </p:cNvPr>
          <p:cNvSpPr txBox="1"/>
          <p:nvPr/>
        </p:nvSpPr>
        <p:spPr>
          <a:xfrm>
            <a:off x="521109" y="1455174"/>
            <a:ext cx="1139558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Popularity Bias (The "Rich-Get-Richer" Effect)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Gini Coefficient:</a:t>
            </a:r>
            <a:r>
              <a:rPr lang="en-US" dirty="0"/>
              <a:t> 0.634, indicating moderately high inequality.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Top 10% Dominance:</a:t>
            </a:r>
            <a:r>
              <a:rPr lang="en-US" dirty="0"/>
              <a:t> The top 10% of movies account for 44.4% of all ratings.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The Long Tail:</a:t>
            </a:r>
            <a:r>
              <a:rPr lang="en-US" dirty="0"/>
              <a:t> The bottom 50% of movies receive only 7.6% of all ratings.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Demographics (The User Base)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Total Users:</a:t>
            </a:r>
            <a:r>
              <a:rPr lang="en-US" dirty="0"/>
              <a:t> 6,040.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Gender Split:</a:t>
            </a:r>
            <a:r>
              <a:rPr lang="en-US" dirty="0"/>
              <a:t> 71.7% Male vs. 28.3% Female (Ratio: 2.53:1).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Age Skew:</a:t>
            </a:r>
            <a:r>
              <a:rPr lang="en-US" dirty="0"/>
              <a:t> The largest group is 25–34 years old (34.7%).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2940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61203-7C4F-F203-325D-40E7F0948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39C3809E-9FEC-8A03-68EE-7428C4030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COT6930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35A76D-0D0D-17C5-D9F3-BD30B06DC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4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9ABE56-47F2-E23B-AB8C-BF79D00902F0}"/>
              </a:ext>
            </a:extLst>
          </p:cNvPr>
          <p:cNvCxnSpPr/>
          <p:nvPr/>
        </p:nvCxnSpPr>
        <p:spPr>
          <a:xfrm>
            <a:off x="0" y="894736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623FA93-90FD-73F3-8A07-25C1BA856EA5}"/>
              </a:ext>
            </a:extLst>
          </p:cNvPr>
          <p:cNvSpPr txBox="1"/>
          <p:nvPr/>
        </p:nvSpPr>
        <p:spPr>
          <a:xfrm>
            <a:off x="0" y="196447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Identified Fairness Harms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8E2789-99A5-4AE5-2BAE-E54B486B5FEF}"/>
              </a:ext>
            </a:extLst>
          </p:cNvPr>
          <p:cNvSpPr txBox="1"/>
          <p:nvPr/>
        </p:nvSpPr>
        <p:spPr>
          <a:xfrm>
            <a:off x="521109" y="1455174"/>
            <a:ext cx="11395587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1. Allocation Harms</a:t>
            </a:r>
            <a:endParaRPr lang="en-US" dirty="0"/>
          </a:p>
          <a:p>
            <a:pPr lvl="1"/>
            <a:r>
              <a:rPr lang="en-US" dirty="0"/>
              <a:t>Unequal distribution of recommendations across groups (e.g., gender bias in action movies).</a:t>
            </a:r>
          </a:p>
          <a:p>
            <a:endParaRPr lang="en-US" b="1" dirty="0"/>
          </a:p>
          <a:p>
            <a:r>
              <a:rPr lang="en-US" b="1" dirty="0"/>
              <a:t>2. Quality of Service Harms</a:t>
            </a:r>
            <a:endParaRPr lang="en-US" dirty="0"/>
          </a:p>
          <a:p>
            <a:pPr lvl="1"/>
            <a:r>
              <a:rPr lang="en-US" dirty="0"/>
              <a:t>Lower accuracy for minority demographic groups or diverse age groups.</a:t>
            </a:r>
          </a:p>
          <a:p>
            <a:pPr lvl="1"/>
            <a:endParaRPr lang="en-US" b="1" dirty="0"/>
          </a:p>
          <a:p>
            <a:r>
              <a:rPr lang="en-US" b="1" dirty="0"/>
              <a:t>3. Representation Harms</a:t>
            </a:r>
            <a:endParaRPr lang="en-US" dirty="0"/>
          </a:p>
          <a:p>
            <a:pPr lvl="1"/>
            <a:r>
              <a:rPr lang="en-US" dirty="0"/>
              <a:t>Stereotyping preferences based on gender or age (e.g., reinforcing gender stereotypes in genre preferences).</a:t>
            </a:r>
          </a:p>
          <a:p>
            <a:endParaRPr lang="en-US" b="1" dirty="0"/>
          </a:p>
          <a:p>
            <a:r>
              <a:rPr lang="en-US" b="1" dirty="0"/>
              <a:t>4. Feedback Loop Harms</a:t>
            </a:r>
            <a:endParaRPr lang="en-US" dirty="0"/>
          </a:p>
          <a:p>
            <a:pPr lvl="1"/>
            <a:r>
              <a:rPr lang="en-US" dirty="0"/>
              <a:t>Self-reinforcing biases where popular items become more popular, crowding out minority preferences.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3165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92E0F-1E90-DE30-75F6-BA2898411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9CBD6174-15B8-5DEA-55B3-7CB54F1E2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COT6930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11DF22-3EBE-2367-B1DC-60CA632D5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5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C19DB24-CEBB-9758-46EB-FA882C2526F1}"/>
              </a:ext>
            </a:extLst>
          </p:cNvPr>
          <p:cNvCxnSpPr/>
          <p:nvPr/>
        </p:nvCxnSpPr>
        <p:spPr>
          <a:xfrm>
            <a:off x="0" y="894736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BB725AAF-D89F-337A-9593-53178E597E6D}"/>
              </a:ext>
            </a:extLst>
          </p:cNvPr>
          <p:cNvSpPr txBox="1"/>
          <p:nvPr/>
        </p:nvSpPr>
        <p:spPr>
          <a:xfrm>
            <a:off x="0" y="196447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Fairness Requirements &amp; KPI Targets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9357A6-9534-9722-126C-43694043F927}"/>
              </a:ext>
            </a:extLst>
          </p:cNvPr>
          <p:cNvSpPr txBox="1"/>
          <p:nvPr/>
        </p:nvSpPr>
        <p:spPr>
          <a:xfrm>
            <a:off x="521109" y="1455174"/>
            <a:ext cx="1139558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System-Level Requirement: Coverage Fairness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Metric:</a:t>
            </a:r>
            <a:r>
              <a:rPr lang="en-US" dirty="0"/>
              <a:t> Gini coefficient of item exposure.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Current State:</a:t>
            </a:r>
            <a:r>
              <a:rPr lang="en-US" dirty="0"/>
              <a:t> 0.634.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Target:</a:t>
            </a:r>
            <a:r>
              <a:rPr lang="en-US" dirty="0"/>
              <a:t> Reduce by 10% to </a:t>
            </a:r>
            <a:r>
              <a:rPr lang="en-US" b="1" dirty="0"/>
              <a:t>0.571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Secondary Goal:</a:t>
            </a:r>
            <a:r>
              <a:rPr lang="en-US" dirty="0"/>
              <a:t> Increase bottom 50% catalog coverage from 7.6% to </a:t>
            </a:r>
            <a:r>
              <a:rPr lang="en-US" b="1" dirty="0"/>
              <a:t>15%</a:t>
            </a:r>
            <a:r>
              <a:rPr lang="en-US" dirty="0"/>
              <a:t>.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Model-Level Requirement: Demographic Parity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Metric:</a:t>
            </a:r>
            <a:r>
              <a:rPr lang="en-US" dirty="0"/>
              <a:t> RMSE (Root Mean Square Error) variance across groups.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Target:</a:t>
            </a:r>
            <a:r>
              <a:rPr lang="en-US" dirty="0"/>
              <a:t> RMSE difference &lt; 0.1 between any two demographic groups.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0863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4329BF-B783-DB90-D4E9-3F5AAEDB81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5E36B5-547A-6F84-A8BF-7C5D71A35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COT6930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A2B012-8302-9C45-9BDC-CEF43882A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6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F1817D3-3257-7566-ACA4-6864E626E634}"/>
              </a:ext>
            </a:extLst>
          </p:cNvPr>
          <p:cNvCxnSpPr/>
          <p:nvPr/>
        </p:nvCxnSpPr>
        <p:spPr>
          <a:xfrm>
            <a:off x="0" y="894736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7DAA875E-00F9-A01E-6CF6-077D5151412C}"/>
              </a:ext>
            </a:extLst>
          </p:cNvPr>
          <p:cNvSpPr txBox="1"/>
          <p:nvPr/>
        </p:nvSpPr>
        <p:spPr>
          <a:xfrm>
            <a:off x="0" y="196447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Proposed Algorithmic Improvements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D7F488-8F0F-D350-676C-A2CF51B023C9}"/>
              </a:ext>
            </a:extLst>
          </p:cNvPr>
          <p:cNvSpPr txBox="1"/>
          <p:nvPr/>
        </p:nvSpPr>
        <p:spPr>
          <a:xfrm>
            <a:off x="521109" y="1455174"/>
            <a:ext cx="113955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1. Exposure Fair Ranking</a:t>
            </a:r>
            <a:endParaRPr lang="en-US" dirty="0"/>
          </a:p>
          <a:p>
            <a:r>
              <a:rPr lang="en-US" dirty="0"/>
              <a:t>	Re-ranks items to boost long-tail content using an "inverse popularity" logic (Targeting Alpha=0.3).</a:t>
            </a:r>
          </a:p>
          <a:p>
            <a:endParaRPr lang="en-US" b="1" dirty="0"/>
          </a:p>
          <a:p>
            <a:r>
              <a:rPr lang="en-US" b="1" dirty="0"/>
              <a:t>2. Diversity Re-ranking (MMR)</a:t>
            </a:r>
            <a:endParaRPr lang="en-US" dirty="0"/>
          </a:p>
          <a:p>
            <a:r>
              <a:rPr lang="en-US" dirty="0"/>
              <a:t>	Uses Maximal Marginal Relevance algorithms to balance relevance with result diversity.</a:t>
            </a:r>
          </a:p>
          <a:p>
            <a:endParaRPr lang="en-US" b="1" dirty="0"/>
          </a:p>
          <a:p>
            <a:r>
              <a:rPr lang="en-US" b="1" dirty="0"/>
              <a:t>3. Demographic Debiasing</a:t>
            </a:r>
            <a:endParaRPr lang="en-US" dirty="0"/>
          </a:p>
          <a:p>
            <a:r>
              <a:rPr lang="en-US" dirty="0"/>
              <a:t>	Implements "Demographic-aware recommendations" to boost counter-stereotypical content and 	underrepresented genres.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266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5FF7F-4F5C-402C-214F-0EEE96076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24FB182-2AEE-7E01-5D7D-1B8FCBF5D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COT6930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A7A492-06D5-89C5-591F-85F4682EA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7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07EF6C7-9208-ED59-83C9-5E2955370923}"/>
              </a:ext>
            </a:extLst>
          </p:cNvPr>
          <p:cNvCxnSpPr/>
          <p:nvPr/>
        </p:nvCxnSpPr>
        <p:spPr>
          <a:xfrm>
            <a:off x="0" y="894736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7F6E222-DB65-AFFD-A2A7-F14BCA880A47}"/>
              </a:ext>
            </a:extLst>
          </p:cNvPr>
          <p:cNvSpPr txBox="1"/>
          <p:nvPr/>
        </p:nvSpPr>
        <p:spPr>
          <a:xfrm>
            <a:off x="0" y="196447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Feedback Loops &amp; Systemic Risks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E01D71-A658-4451-1866-D4D7F8A4F36C}"/>
              </a:ext>
            </a:extLst>
          </p:cNvPr>
          <p:cNvSpPr txBox="1"/>
          <p:nvPr/>
        </p:nvSpPr>
        <p:spPr>
          <a:xfrm>
            <a:off x="521109" y="1455174"/>
            <a:ext cx="11395587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The Popularity Echo Chamber</a:t>
            </a:r>
            <a:endParaRPr lang="en-US" dirty="0"/>
          </a:p>
          <a:p>
            <a:r>
              <a:rPr lang="en-US" b="1" dirty="0"/>
              <a:t>Risk:</a:t>
            </a:r>
            <a:r>
              <a:rPr lang="en-US" dirty="0"/>
              <a:t> Without intervention, the top 10% of movies will continue to accrue the majority of interaction.</a:t>
            </a:r>
          </a:p>
          <a:p>
            <a:r>
              <a:rPr lang="en-US" b="1" dirty="0"/>
              <a:t>Detection:</a:t>
            </a:r>
            <a:r>
              <a:rPr lang="en-US" dirty="0"/>
              <a:t> Monitor weekly Gini coefficient changes; alert if Gini increases &gt;5% in a month.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Demographic Amplification</a:t>
            </a:r>
            <a:endParaRPr lang="en-US" dirty="0"/>
          </a:p>
          <a:p>
            <a:r>
              <a:rPr lang="en-US" b="1" dirty="0"/>
              <a:t>Risk:</a:t>
            </a:r>
            <a:r>
              <a:rPr lang="en-US" dirty="0"/>
              <a:t> The 71.7% male user base creates a risk of male preference dominance in collaborative filtering.</a:t>
            </a:r>
          </a:p>
          <a:p>
            <a:r>
              <a:rPr lang="en-US" b="1" dirty="0"/>
              <a:t>Result:</a:t>
            </a:r>
            <a:r>
              <a:rPr lang="en-US" dirty="0"/>
              <a:t> A "Filter Bubble" where female preferences are underrepresented.</a:t>
            </a:r>
          </a:p>
          <a:p>
            <a:endParaRPr lang="en-US" dirty="0"/>
          </a:p>
          <a:p>
            <a:r>
              <a:rPr lang="en-US" b="1" dirty="0"/>
              <a:t>Cold Start Spiral</a:t>
            </a:r>
          </a:p>
          <a:p>
            <a:r>
              <a:rPr lang="en-US" b="1" dirty="0"/>
              <a:t>Risk</a:t>
            </a:r>
            <a:r>
              <a:rPr lang="en-US" dirty="0"/>
              <a:t>: New users receive generic recommendations, leading to churn.</a:t>
            </a:r>
          </a:p>
          <a:p>
            <a:r>
              <a:rPr lang="en-US" b="1" dirty="0"/>
              <a:t>Context</a:t>
            </a:r>
            <a:r>
              <a:rPr lang="en-US" dirty="0"/>
              <a:t>: 45.9% of movies have $\le$ 100 ratings, making personalization difficult.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99258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8853B-D438-5DFB-160F-6DDED1150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1564722-5F90-A914-6A3B-E0CA487C9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COT6930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9F8356-BD7A-5460-F134-C134EB229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8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7F8564-E808-C121-4FD1-95AB489B44B4}"/>
              </a:ext>
            </a:extLst>
          </p:cNvPr>
          <p:cNvCxnSpPr/>
          <p:nvPr/>
        </p:nvCxnSpPr>
        <p:spPr>
          <a:xfrm>
            <a:off x="0" y="894736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7F55B59-D302-B352-17AD-D0BD2D9436F2}"/>
              </a:ext>
            </a:extLst>
          </p:cNvPr>
          <p:cNvSpPr txBox="1"/>
          <p:nvPr/>
        </p:nvSpPr>
        <p:spPr>
          <a:xfrm>
            <a:off x="0" y="196447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Security Threat Model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75E74A-F6FB-40AC-0FE3-1C9BF978ED0C}"/>
              </a:ext>
            </a:extLst>
          </p:cNvPr>
          <p:cNvSpPr txBox="1"/>
          <p:nvPr/>
        </p:nvSpPr>
        <p:spPr>
          <a:xfrm>
            <a:off x="471948" y="1069806"/>
            <a:ext cx="11395587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Threats</a:t>
            </a:r>
            <a:endParaRPr lang="en-US" dirty="0"/>
          </a:p>
          <a:p>
            <a:r>
              <a:rPr lang="en-US" b="1" dirty="0"/>
              <a:t>Event Injection:</a:t>
            </a:r>
            <a:r>
              <a:rPr lang="en-US" dirty="0"/>
              <a:t> Kafka layer attacks causing model poisoning.</a:t>
            </a:r>
          </a:p>
          <a:p>
            <a:r>
              <a:rPr lang="en-US" b="1" dirty="0"/>
              <a:t>Recommendation Bombing:</a:t>
            </a:r>
            <a:r>
              <a:rPr lang="en-US" dirty="0"/>
              <a:t> API layer attacks to skew results or exhaust resources.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Specific Vulnerabilities</a:t>
            </a:r>
          </a:p>
          <a:p>
            <a:r>
              <a:rPr lang="en-US" b="1" dirty="0"/>
              <a:t>Rating Spam</a:t>
            </a:r>
            <a:r>
              <a:rPr lang="en-US" dirty="0"/>
              <a:t>: With 45.9% of movies having $\le$ 100 ratings, small movies are highly vulnerable to coordinated manipulation.</a:t>
            </a:r>
          </a:p>
          <a:p>
            <a:r>
              <a:rPr lang="en-US" b="1" dirty="0"/>
              <a:t>Shilling Attacks</a:t>
            </a:r>
            <a:r>
              <a:rPr lang="en-US" dirty="0"/>
              <a:t>: Fake user profiles designed to influence recommendations.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Mitigation Strategy</a:t>
            </a:r>
          </a:p>
          <a:p>
            <a:r>
              <a:rPr lang="en-US" b="1" dirty="0"/>
              <a:t>Anomaly Detection</a:t>
            </a:r>
            <a:r>
              <a:rPr lang="en-US" dirty="0"/>
              <a:t>: Flag rating spikes exceeding 3 standard deviations from a movie's historical average.</a:t>
            </a:r>
          </a:p>
          <a:p>
            <a:r>
              <a:rPr lang="en-US" b="1" dirty="0"/>
              <a:t>Rate Limiting</a:t>
            </a:r>
            <a:r>
              <a:rPr lang="en-US" dirty="0"/>
              <a:t>: Implement 60 requests/minute per user.</a:t>
            </a:r>
          </a:p>
        </p:txBody>
      </p:sp>
    </p:spTree>
    <p:extLst>
      <p:ext uri="{BB962C8B-B14F-4D97-AF65-F5344CB8AC3E}">
        <p14:creationId xmlns:p14="http://schemas.microsoft.com/office/powerpoint/2010/main" val="2088725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FC54D-6EBA-AE7F-FEAE-305031DE6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73452DD-C6B8-B0DD-AF53-E08DE3BF9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COT6930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CFD554-BDE4-DF80-1DFB-06558DD05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4351F-3311-4B10-BCB1-06C82B277977}" type="slidenum">
              <a:rPr lang="en-US" smtClean="0"/>
              <a:t>9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CDA0C07-F752-F816-293A-3CF0B2C2EE3F}"/>
              </a:ext>
            </a:extLst>
          </p:cNvPr>
          <p:cNvCxnSpPr/>
          <p:nvPr/>
        </p:nvCxnSpPr>
        <p:spPr>
          <a:xfrm>
            <a:off x="0" y="894736"/>
            <a:ext cx="12192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3FA44C8-9D10-140A-E393-93FA6466F6FB}"/>
              </a:ext>
            </a:extLst>
          </p:cNvPr>
          <p:cNvSpPr txBox="1"/>
          <p:nvPr/>
        </p:nvSpPr>
        <p:spPr>
          <a:xfrm>
            <a:off x="0" y="196447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Conclusion &amp; Recommendations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CC9AEAE-B062-1F62-43F7-1F71765A42EC}"/>
              </a:ext>
            </a:extLst>
          </p:cNvPr>
          <p:cNvSpPr txBox="1"/>
          <p:nvPr/>
        </p:nvSpPr>
        <p:spPr>
          <a:xfrm>
            <a:off x="471948" y="1069806"/>
            <a:ext cx="1139558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Summary </a:t>
            </a:r>
            <a:r>
              <a:rPr lang="en-US" b="1"/>
              <a:t>Status</a:t>
            </a:r>
            <a:r>
              <a:rPr lang="en-US"/>
              <a:t> </a:t>
            </a:r>
          </a:p>
          <a:p>
            <a:r>
              <a:rPr lang="en-US"/>
              <a:t>The </a:t>
            </a:r>
            <a:r>
              <a:rPr lang="en-US" dirty="0"/>
              <a:t>LENS system is currently functional but exhibits significant bias (Gini 0.634) and demographic risk (Male dominance).</a:t>
            </a:r>
          </a:p>
          <a:p>
            <a:endParaRPr lang="en-US" dirty="0"/>
          </a:p>
          <a:p>
            <a:r>
              <a:rPr lang="en-US" b="1" dirty="0"/>
              <a:t>Critical Recommendations</a:t>
            </a:r>
            <a:endParaRPr lang="en-US" dirty="0"/>
          </a:p>
          <a:p>
            <a:r>
              <a:rPr lang="en-US" b="1" dirty="0"/>
              <a:t>Address Coverage:</a:t>
            </a:r>
            <a:r>
              <a:rPr lang="en-US" dirty="0"/>
              <a:t> Immediately implement exposure fair ranking to lift the 7.6% market share of the bottom-half movies.</a:t>
            </a:r>
          </a:p>
          <a:p>
            <a:r>
              <a:rPr lang="en-US" b="1" dirty="0"/>
              <a:t>Mitigate Bias:</a:t>
            </a:r>
            <a:r>
              <a:rPr lang="en-US" dirty="0"/>
              <a:t> Counteract the 71.7% male user dominance to prevent gender-biased filter bubbles.</a:t>
            </a:r>
          </a:p>
          <a:p>
            <a:r>
              <a:rPr lang="en-US" b="1" dirty="0"/>
              <a:t>Harden Security:</a:t>
            </a:r>
            <a:r>
              <a:rPr lang="en-US" dirty="0"/>
              <a:t> Deploy anomaly detection to protect the 45.9% of movies vulnerable to rating manipulation.</a:t>
            </a:r>
          </a:p>
        </p:txBody>
      </p:sp>
    </p:spTree>
    <p:extLst>
      <p:ext uri="{BB962C8B-B14F-4D97-AF65-F5344CB8AC3E}">
        <p14:creationId xmlns:p14="http://schemas.microsoft.com/office/powerpoint/2010/main" val="38828208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4612</TotalTime>
  <Words>758</Words>
  <Application>Microsoft Office PowerPoint</Application>
  <PresentationFormat>Widescreen</PresentationFormat>
  <Paragraphs>113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LENS Recommendation System: Fairness &amp; Security Analysis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jay.prasad@alumni.emory.edu</dc:creator>
  <cp:lastModifiedBy>jay.prasad@alumni.emory.edu</cp:lastModifiedBy>
  <cp:revision>19</cp:revision>
  <dcterms:created xsi:type="dcterms:W3CDTF">2025-07-15T23:43:53Z</dcterms:created>
  <dcterms:modified xsi:type="dcterms:W3CDTF">2025-11-29T00:41:23Z</dcterms:modified>
</cp:coreProperties>
</file>